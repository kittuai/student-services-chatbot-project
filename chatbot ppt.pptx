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Red Hat Display Bold" charset="1" panose="02010803040201060303"/>
      <p:regular r:id="rId17"/>
    </p:embeddedFont>
    <p:embeddedFont>
      <p:font typeface="Inter" charset="1" panose="020B0502030000000004"/>
      <p:regular r:id="rId18"/>
    </p:embeddedFont>
    <p:embeddedFont>
      <p:font typeface="Inter Medium" charset="1" panose="02000503000000020004"/>
      <p:regular r:id="rId19"/>
    </p:embeddedFont>
    <p:embeddedFont>
      <p:font typeface="Inter Bold" charset="1" panose="020B08020300000000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5028099" y="1539161"/>
            <a:ext cx="7719139" cy="771913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5596960" y="1539161"/>
            <a:ext cx="7719139" cy="771913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736630" y="6009010"/>
            <a:ext cx="2469284" cy="4409435"/>
          </a:xfrm>
          <a:custGeom>
            <a:avLst/>
            <a:gdLst/>
            <a:ahLst/>
            <a:cxnLst/>
            <a:rect r="r" b="b" t="t" l="l"/>
            <a:pathLst>
              <a:path h="4409435" w="2469284">
                <a:moveTo>
                  <a:pt x="0" y="0"/>
                </a:moveTo>
                <a:lnTo>
                  <a:pt x="2469283" y="0"/>
                </a:lnTo>
                <a:lnTo>
                  <a:pt x="2469283" y="4409435"/>
                </a:lnTo>
                <a:lnTo>
                  <a:pt x="0" y="44094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5082087" y="6009010"/>
            <a:ext cx="2469284" cy="4409435"/>
          </a:xfrm>
          <a:custGeom>
            <a:avLst/>
            <a:gdLst/>
            <a:ahLst/>
            <a:cxnLst/>
            <a:rect r="r" b="b" t="t" l="l"/>
            <a:pathLst>
              <a:path h="4409435" w="2469284">
                <a:moveTo>
                  <a:pt x="2469283" y="0"/>
                </a:moveTo>
                <a:lnTo>
                  <a:pt x="0" y="0"/>
                </a:lnTo>
                <a:lnTo>
                  <a:pt x="0" y="4409435"/>
                </a:lnTo>
                <a:lnTo>
                  <a:pt x="2469283" y="4409435"/>
                </a:lnTo>
                <a:lnTo>
                  <a:pt x="2469283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30217" y="1013257"/>
            <a:ext cx="860074" cy="333578"/>
            <a:chOff x="0" y="0"/>
            <a:chExt cx="1146765" cy="444771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16397710" y="1028700"/>
            <a:ext cx="860074" cy="333578"/>
            <a:chOff x="0" y="0"/>
            <a:chExt cx="1146765" cy="444771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24" id="24"/>
          <p:cNvSpPr txBox="true"/>
          <p:nvPr/>
        </p:nvSpPr>
        <p:spPr>
          <a:xfrm rot="0">
            <a:off x="3620867" y="3238703"/>
            <a:ext cx="11046265" cy="1950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38"/>
              </a:lnSpc>
              <a:spcBef>
                <a:spcPct val="0"/>
              </a:spcBef>
            </a:pPr>
            <a:r>
              <a:rPr lang="en-US" b="true" sz="11384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SSA C</a:t>
            </a:r>
            <a:r>
              <a:rPr lang="en-US" b="true" sz="11384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HATBOT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958875" y="5189180"/>
            <a:ext cx="8370250" cy="2380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57"/>
              </a:lnSpc>
              <a:spcBef>
                <a:spcPct val="0"/>
              </a:spcBef>
            </a:pPr>
            <a:r>
              <a:rPr lang="en-US" b="true" sz="4540" spc="1362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REDEFINING STUDENT SUPPORT THROUGH AI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958875" y="8175627"/>
            <a:ext cx="8834615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Emp</a:t>
            </a: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owering students with real-time, emotion-aware AI support.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47977" y="2643839"/>
            <a:ext cx="6314698" cy="5829198"/>
            <a:chOff x="0" y="0"/>
            <a:chExt cx="937097" cy="8650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7097" cy="865049"/>
            </a:xfrm>
            <a:custGeom>
              <a:avLst/>
              <a:gdLst/>
              <a:ahLst/>
              <a:cxnLst/>
              <a:rect r="r" b="b" t="t" l="l"/>
              <a:pathLst>
                <a:path h="865049" w="937097">
                  <a:moveTo>
                    <a:pt x="28198" y="0"/>
                  </a:moveTo>
                  <a:lnTo>
                    <a:pt x="908899" y="0"/>
                  </a:lnTo>
                  <a:cubicBezTo>
                    <a:pt x="916378" y="0"/>
                    <a:pt x="923550" y="2971"/>
                    <a:pt x="928838" y="8259"/>
                  </a:cubicBezTo>
                  <a:cubicBezTo>
                    <a:pt x="934126" y="13547"/>
                    <a:pt x="937097" y="20720"/>
                    <a:pt x="937097" y="28198"/>
                  </a:cubicBezTo>
                  <a:lnTo>
                    <a:pt x="937097" y="836851"/>
                  </a:lnTo>
                  <a:cubicBezTo>
                    <a:pt x="937097" y="852425"/>
                    <a:pt x="924472" y="865049"/>
                    <a:pt x="908899" y="865049"/>
                  </a:cubicBezTo>
                  <a:lnTo>
                    <a:pt x="28198" y="865049"/>
                  </a:lnTo>
                  <a:cubicBezTo>
                    <a:pt x="20720" y="865049"/>
                    <a:pt x="13547" y="862078"/>
                    <a:pt x="8259" y="856790"/>
                  </a:cubicBezTo>
                  <a:cubicBezTo>
                    <a:pt x="2971" y="851502"/>
                    <a:pt x="0" y="844330"/>
                    <a:pt x="0" y="836851"/>
                  </a:cubicBezTo>
                  <a:lnTo>
                    <a:pt x="0" y="28198"/>
                  </a:lnTo>
                  <a:cubicBezTo>
                    <a:pt x="0" y="20720"/>
                    <a:pt x="2971" y="13547"/>
                    <a:pt x="8259" y="8259"/>
                  </a:cubicBezTo>
                  <a:cubicBezTo>
                    <a:pt x="13547" y="2971"/>
                    <a:pt x="20720" y="0"/>
                    <a:pt x="28198" y="0"/>
                  </a:cubicBezTo>
                  <a:close/>
                </a:path>
              </a:pathLst>
            </a:custGeom>
            <a:blipFill>
              <a:blip r:embed="rId2"/>
              <a:stretch>
                <a:fillRect l="-19276" t="0" r="-19276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28700" y="2419351"/>
            <a:ext cx="7782254" cy="1581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80"/>
              </a:lnSpc>
            </a:pPr>
            <a:r>
              <a:rPr lang="en-US" sz="5200" b="true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PROBLEM STATEMENT</a:t>
            </a:r>
          </a:p>
          <a:p>
            <a:pPr algn="l">
              <a:lnSpc>
                <a:spcPts val="5320"/>
              </a:lnSpc>
              <a:spcBef>
                <a:spcPct val="0"/>
              </a:spcBef>
            </a:pPr>
            <a:r>
              <a:rPr lang="en-US" b="true" sz="38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THE GAP IN STUDENT SUPPORT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137308"/>
            <a:ext cx="7303160" cy="1881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Students often feel overwhelmed navigating tuition, OSAP, housing, and academic services. Existing systems are slow, fragmented, and emotionally disconnected.</a:t>
            </a:r>
          </a:p>
          <a:p>
            <a:pPr algn="just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90600"/>
            <a:ext cx="351253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SS</a:t>
            </a: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 CHATBOT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828262"/>
            <a:ext cx="7303160" cy="2644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Key Issues:</a:t>
            </a:r>
          </a:p>
          <a:p>
            <a:pPr algn="just">
              <a:lnSpc>
                <a:spcPts val="3079"/>
              </a:lnSpc>
            </a:pP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Delays in getting simple answers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Lack of personalized or empathetic support</a:t>
            </a:r>
          </a:p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Repetitive questions burdening advisors</a:t>
            </a:r>
          </a:p>
          <a:p>
            <a:pPr algn="just" marL="474978" indent="-237489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Confusing navigation of college policies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507795" y="8495030"/>
            <a:ext cx="730316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“Information exists — but access is the problem.”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62108" y="4531317"/>
            <a:ext cx="5102520" cy="5594105"/>
            <a:chOff x="0" y="0"/>
            <a:chExt cx="937097" cy="10273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7097" cy="1027379"/>
            </a:xfrm>
            <a:custGeom>
              <a:avLst/>
              <a:gdLst/>
              <a:ahLst/>
              <a:cxnLst/>
              <a:rect r="r" b="b" t="t" l="l"/>
              <a:pathLst>
                <a:path h="1027379" w="937097">
                  <a:moveTo>
                    <a:pt x="34897" y="0"/>
                  </a:moveTo>
                  <a:lnTo>
                    <a:pt x="902200" y="0"/>
                  </a:lnTo>
                  <a:cubicBezTo>
                    <a:pt x="921473" y="0"/>
                    <a:pt x="937097" y="15624"/>
                    <a:pt x="937097" y="34897"/>
                  </a:cubicBezTo>
                  <a:lnTo>
                    <a:pt x="937097" y="992481"/>
                  </a:lnTo>
                  <a:cubicBezTo>
                    <a:pt x="937097" y="1001737"/>
                    <a:pt x="933421" y="1010613"/>
                    <a:pt x="926876" y="1017158"/>
                  </a:cubicBezTo>
                  <a:cubicBezTo>
                    <a:pt x="920332" y="1023702"/>
                    <a:pt x="911455" y="1027379"/>
                    <a:pt x="902200" y="1027379"/>
                  </a:cubicBezTo>
                  <a:lnTo>
                    <a:pt x="34897" y="1027379"/>
                  </a:lnTo>
                  <a:cubicBezTo>
                    <a:pt x="15624" y="1027379"/>
                    <a:pt x="0" y="1011755"/>
                    <a:pt x="0" y="992481"/>
                  </a:cubicBezTo>
                  <a:lnTo>
                    <a:pt x="0" y="34897"/>
                  </a:lnTo>
                  <a:cubicBezTo>
                    <a:pt x="0" y="15624"/>
                    <a:pt x="15624" y="0"/>
                    <a:pt x="34897" y="0"/>
                  </a:cubicBezTo>
                  <a:close/>
                </a:path>
              </a:pathLst>
            </a:custGeom>
            <a:blipFill>
              <a:blip r:embed="rId2"/>
              <a:stretch>
                <a:fillRect l="-4817" t="0" r="-4817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31319" y="5143500"/>
            <a:ext cx="1281080" cy="128108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231319" y="3628049"/>
            <a:ext cx="1281080" cy="128108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231319" y="8209907"/>
            <a:ext cx="1281080" cy="128108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31319" y="6690701"/>
            <a:ext cx="1281080" cy="128108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564555" y="2046900"/>
            <a:ext cx="8579445" cy="1581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40"/>
              </a:lnSpc>
            </a:pPr>
            <a:r>
              <a:rPr lang="en-US" sz="5100" b="true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PROJECT GOAL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b="true" sz="39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AN ASSISTANT, NOT JUST A BOT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92354" y="1817029"/>
            <a:ext cx="7271650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We set out to build more than a bot. The goal was to create a smart, supportive, and responsive assistant that answers questions instantly and adapts to the student’s emotional tone.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92354" y="4071422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92354" y="5586873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92354" y="8648057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92354" y="7134074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50549" y="3935369"/>
            <a:ext cx="6081089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Provide fast, accurate answers via verified FAQs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0950549" y="5452570"/>
            <a:ext cx="6081089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Handle unseen questions using Gemini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950549" y="6930556"/>
            <a:ext cx="6081089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Detect emotional tone and adapt replies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950549" y="8449761"/>
            <a:ext cx="6081089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Escalate to human support when necessary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990600"/>
            <a:ext cx="351253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SS</a:t>
            </a: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 CHATBOT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Freeform 9" id="9"/>
          <p:cNvSpPr/>
          <p:nvPr/>
        </p:nvSpPr>
        <p:spPr>
          <a:xfrm flipH="false" flipV="false" rot="0">
            <a:off x="10305312" y="970338"/>
            <a:ext cx="5560739" cy="8346325"/>
          </a:xfrm>
          <a:custGeom>
            <a:avLst/>
            <a:gdLst/>
            <a:ahLst/>
            <a:cxnLst/>
            <a:rect r="r" b="b" t="t" l="l"/>
            <a:pathLst>
              <a:path h="8346325" w="5560739">
                <a:moveTo>
                  <a:pt x="0" y="0"/>
                </a:moveTo>
                <a:lnTo>
                  <a:pt x="5560739" y="0"/>
                </a:lnTo>
                <a:lnTo>
                  <a:pt x="5560739" y="8346324"/>
                </a:lnTo>
                <a:lnTo>
                  <a:pt x="0" y="8346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2399950"/>
            <a:ext cx="7782254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ARCHITECTURE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3583222"/>
            <a:ext cx="8115300" cy="4278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SSA Chatbot processes student queries through a structured, intelligent pipeline to deliver accurate, empathetic, and context-aware responses. It begins by detecting any emotional tone in the input, enabling personalized replies. The query is then matched using a TF-IDF search over curated FAQs. If a high-confidence match is not found, it proceeds to a Retrieval-Augmented Generation (RAG) system to search deeper policy documents. As a final fallback, the Gemini generative model creates a response based on the input context. This layered flow ensures both factual accuracy and supportive communication.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124158" y="990600"/>
            <a:ext cx="113514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1100" y="1104900"/>
            <a:ext cx="351253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SS</a:t>
            </a: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 CHATBOT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74842" y="1401694"/>
            <a:ext cx="14687833" cy="193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EMOTION AWARENESS – RESPONDING LIKE A HUMAN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36551" y="3412104"/>
            <a:ext cx="2873956" cy="287395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52495" y="4470664"/>
            <a:ext cx="1442068" cy="68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5"/>
              </a:lnSpc>
              <a:spcBef>
                <a:spcPct val="0"/>
              </a:spcBef>
            </a:pPr>
            <a:r>
              <a:rPr lang="en-US" b="true" sz="398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719895"/>
            <a:ext cx="3689658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Detects sadness, anxiety, stress with pattern-based logic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5616865" y="3486013"/>
            <a:ext cx="2873956" cy="287395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332809" y="4544573"/>
            <a:ext cx="1442068" cy="68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5"/>
              </a:lnSpc>
              <a:spcBef>
                <a:spcPct val="0"/>
              </a:spcBef>
            </a:pPr>
            <a:r>
              <a:rPr lang="en-US" b="true" sz="398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04369" y="6719895"/>
            <a:ext cx="3689658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Triggers empathetic replies automatically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9797179" y="3486013"/>
            <a:ext cx="2873956" cy="287395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513123" y="4544573"/>
            <a:ext cx="1442068" cy="68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5"/>
              </a:lnSpc>
              <a:spcBef>
                <a:spcPct val="0"/>
              </a:spcBef>
            </a:pPr>
            <a:r>
              <a:rPr lang="en-US" b="true" sz="398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89328" y="6719895"/>
            <a:ext cx="3689658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Offers escalation if emotional distress is detected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</p:txBody>
      </p:sp>
      <p:grpSp>
        <p:nvGrpSpPr>
          <p:cNvPr name="Group 19" id="19"/>
          <p:cNvGrpSpPr/>
          <p:nvPr/>
        </p:nvGrpSpPr>
        <p:grpSpPr>
          <a:xfrm rot="0">
            <a:off x="13977493" y="3486013"/>
            <a:ext cx="2873956" cy="287395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4693437" y="4544573"/>
            <a:ext cx="1442068" cy="68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5"/>
              </a:lnSpc>
              <a:spcBef>
                <a:spcPct val="0"/>
              </a:spcBef>
            </a:pPr>
            <a:r>
              <a:rPr lang="en-US" b="true" sz="398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69642" y="6719895"/>
            <a:ext cx="3689658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Reinforces trust with caring tone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3911970" y="8302315"/>
            <a:ext cx="10613578" cy="1544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Tone matters. A student saying “I’m confused” needs a different response than “How much is tuition?”. Our emotion detector tailors the chatbot’s language to match the student’s mood.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990600"/>
            <a:ext cx="351253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SS</a:t>
            </a: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 CHATBOT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74842" y="1860039"/>
            <a:ext cx="14687833" cy="943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WHAT MAKES THIS CHATBOT STAND OUT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36551" y="3412104"/>
            <a:ext cx="2873956" cy="287395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52495" y="4470664"/>
            <a:ext cx="1442068" cy="68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5"/>
              </a:lnSpc>
              <a:spcBef>
                <a:spcPct val="0"/>
              </a:spcBef>
            </a:pPr>
            <a:r>
              <a:rPr lang="en-US" b="true" sz="398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719895"/>
            <a:ext cx="3689658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Three-layered fallback logic ensures no dead ends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5616865" y="3486013"/>
            <a:ext cx="2873956" cy="2873956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332809" y="4544573"/>
            <a:ext cx="1442068" cy="68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5"/>
              </a:lnSpc>
              <a:spcBef>
                <a:spcPct val="0"/>
              </a:spcBef>
            </a:pPr>
            <a:r>
              <a:rPr lang="en-US" b="true" sz="398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04369" y="6719895"/>
            <a:ext cx="3689658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Emotion-aware replies feel genuinely helpful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797179" y="3486013"/>
            <a:ext cx="2873956" cy="2873956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0513123" y="4544573"/>
            <a:ext cx="1442068" cy="68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5"/>
              </a:lnSpc>
              <a:spcBef>
                <a:spcPct val="0"/>
              </a:spcBef>
            </a:pPr>
            <a:r>
              <a:rPr lang="en-US" b="true" sz="398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89328" y="6719895"/>
            <a:ext cx="3689658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Gemini-powered follow-ups guide the next step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977493" y="3486013"/>
            <a:ext cx="2873956" cy="2873956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4693437" y="4544573"/>
            <a:ext cx="1442068" cy="68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5"/>
              </a:lnSpc>
              <a:spcBef>
                <a:spcPct val="0"/>
              </a:spcBef>
            </a:pPr>
            <a:r>
              <a:rPr lang="en-US" b="true" sz="398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69642" y="6719895"/>
            <a:ext cx="3689658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Minimal infrastructure — high impact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911970" y="8302315"/>
            <a:ext cx="10613578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 is not just automation — it's intelligent student support. It adapts, understands, escalates, and guides. No other system on campus does all four.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28700" y="990600"/>
            <a:ext cx="351253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SS</a:t>
            </a: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 CHATBOT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531317"/>
            <a:ext cx="7768390" cy="4726983"/>
            <a:chOff x="0" y="0"/>
            <a:chExt cx="937097" cy="57021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37097" cy="570214"/>
            </a:xfrm>
            <a:custGeom>
              <a:avLst/>
              <a:gdLst/>
              <a:ahLst/>
              <a:cxnLst/>
              <a:rect r="r" b="b" t="t" l="l"/>
              <a:pathLst>
                <a:path h="570214" w="937097">
                  <a:moveTo>
                    <a:pt x="22922" y="0"/>
                  </a:moveTo>
                  <a:lnTo>
                    <a:pt x="914176" y="0"/>
                  </a:lnTo>
                  <a:cubicBezTo>
                    <a:pt x="926835" y="0"/>
                    <a:pt x="937097" y="10262"/>
                    <a:pt x="937097" y="22922"/>
                  </a:cubicBezTo>
                  <a:lnTo>
                    <a:pt x="937097" y="547292"/>
                  </a:lnTo>
                  <a:cubicBezTo>
                    <a:pt x="937097" y="559951"/>
                    <a:pt x="926835" y="570214"/>
                    <a:pt x="914176" y="570214"/>
                  </a:cubicBezTo>
                  <a:lnTo>
                    <a:pt x="22922" y="570214"/>
                  </a:lnTo>
                  <a:cubicBezTo>
                    <a:pt x="10262" y="570214"/>
                    <a:pt x="0" y="559951"/>
                    <a:pt x="0" y="547292"/>
                  </a:cubicBezTo>
                  <a:lnTo>
                    <a:pt x="0" y="22922"/>
                  </a:lnTo>
                  <a:cubicBezTo>
                    <a:pt x="0" y="10262"/>
                    <a:pt x="10262" y="0"/>
                    <a:pt x="2292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780" r="0" b="-478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231319" y="5143500"/>
            <a:ext cx="1281080" cy="1281080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231319" y="3628049"/>
            <a:ext cx="1281080" cy="128108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2138976"/>
            <a:ext cx="8579445" cy="1384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  <a:spcBef>
                <a:spcPct val="0"/>
              </a:spcBef>
            </a:pPr>
            <a:r>
              <a:rPr lang="en-US" b="true" sz="40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</a:t>
            </a:r>
            <a:r>
              <a:rPr lang="en-US" b="true" sz="40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HALLENGES &amp; LESSONS LEARNED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987650" y="1884924"/>
            <a:ext cx="7271650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Developing trust in AI is as critical as accuracy. We faced challenges in balancing tone, generation quality, and fallback transitions — and refined them through experimentation.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92354" y="4071422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92354" y="5586873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02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231319" y="8209907"/>
            <a:ext cx="1281080" cy="128108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231319" y="6690701"/>
            <a:ext cx="1281080" cy="1281080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9492354" y="8648057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92354" y="7134074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50549" y="3809944"/>
            <a:ext cx="6081089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Gemini needs careful prompt tuning to avoid hallucination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950549" y="5452570"/>
            <a:ext cx="6081089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Threshold tuning (e.g., 0.65 for FAQ match) is crucial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10950549" y="6930556"/>
            <a:ext cx="6081089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Regex emotion detection works but has limits — future: ML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950549" y="8449761"/>
            <a:ext cx="6081089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user experience must feel human, even if it's AI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028700" y="990600"/>
            <a:ext cx="351253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SS</a:t>
            </a: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 CHATBOT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50551" y="3247357"/>
            <a:ext cx="7578613" cy="292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FUTURE</a:t>
            </a:r>
            <a:r>
              <a:rPr lang="en-US" b="true" sz="5600" strike="noStrike" u="none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</a:t>
            </a:r>
            <a:r>
              <a:rPr lang="en-US" b="true" sz="5600" strike="noStrike" u="none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PL</a:t>
            </a:r>
            <a:r>
              <a:rPr lang="en-US" b="true" sz="5600" strike="noStrike" u="none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</a:t>
            </a:r>
            <a:r>
              <a:rPr lang="en-US" b="true" sz="5600" strike="noStrike" u="none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NS</a:t>
            </a:r>
            <a:r>
              <a:rPr lang="en-US" b="true" sz="5600" strike="noStrike" u="none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– BEYOND </a:t>
            </a:r>
            <a:r>
              <a:rPr lang="en-US" b="true" sz="5600" strike="noStrike" u="none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</a:t>
            </a:r>
            <a:r>
              <a:rPr lang="en-US" b="true" sz="5600" strike="noStrike" u="none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 PROTOT</a:t>
            </a:r>
            <a:r>
              <a:rPr lang="en-US" b="true" sz="5600" strike="noStrike" u="none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YPE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50551" y="6480681"/>
            <a:ext cx="6979991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This chatbot is a strong foundation. Next, we aim to scale it into a full SSA assistant — integrating deeper understanding, analytics, and dynamic content.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08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34003" y="2444679"/>
            <a:ext cx="5725297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Fine-tuned intent/emotion classifier (e.g., DistilBERT)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166094" y="1617274"/>
            <a:ext cx="3968105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PLANNED UPGRADES: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63938" y="2294355"/>
            <a:ext cx="1080828" cy="108082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124847" y="2637601"/>
            <a:ext cx="75901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534003" y="3731525"/>
            <a:ext cx="5725297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Embedding-based FAQ retrieval (e.g., BGE + FAISS)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1534003" y="5018372"/>
            <a:ext cx="5725297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Admin dashboard to update FAQs dynamically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1534003" y="6503045"/>
            <a:ext cx="5725297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Multi-turn conversation memory (chat history awareness)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028700" y="8924722"/>
            <a:ext cx="860074" cy="333578"/>
            <a:chOff x="0" y="0"/>
            <a:chExt cx="1146765" cy="444771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444771" cy="444771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701994" y="0"/>
              <a:ext cx="444771" cy="444771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</p:grpSp>
      <p:sp>
        <p:nvSpPr>
          <p:cNvPr name="TextBox 21" id="21"/>
          <p:cNvSpPr txBox="true"/>
          <p:nvPr/>
        </p:nvSpPr>
        <p:spPr>
          <a:xfrm rot="0">
            <a:off x="1028700" y="990600"/>
            <a:ext cx="351253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SS</a:t>
            </a: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 CHATBOT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963938" y="7639724"/>
            <a:ext cx="1080828" cy="1080828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05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963938" y="6292196"/>
            <a:ext cx="1080828" cy="1080828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04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963938" y="4944669"/>
            <a:ext cx="1080828" cy="1080828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963938" y="3598474"/>
            <a:ext cx="1080828" cy="1080828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  <a:r>
                <a:rPr lang="en-US" b="true" sz="2100">
                  <a:solidFill>
                    <a:srgbClr val="FFFFFF"/>
                  </a:solidFill>
                  <a:latin typeface="Red Hat Display Bold"/>
                  <a:ea typeface="Red Hat Display Bold"/>
                  <a:cs typeface="Red Hat Display Bold"/>
                  <a:sym typeface="Red Hat Display Bold"/>
                </a:rPr>
                <a:t>02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534003" y="7704465"/>
            <a:ext cx="5725297" cy="115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Student usage analytics &amp; feedback tracking</a:t>
            </a:r>
          </a:p>
          <a:p>
            <a:pPr algn="just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4008426"/>
            <a:ext cx="5622604" cy="4087189"/>
            <a:chOff x="0" y="0"/>
            <a:chExt cx="1136274" cy="8259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36274" cy="825982"/>
            </a:xfrm>
            <a:custGeom>
              <a:avLst/>
              <a:gdLst/>
              <a:ahLst/>
              <a:cxnLst/>
              <a:rect r="r" b="b" t="t" l="l"/>
              <a:pathLst>
                <a:path h="825982" w="1136274">
                  <a:moveTo>
                    <a:pt x="31669" y="0"/>
                  </a:moveTo>
                  <a:lnTo>
                    <a:pt x="1104605" y="0"/>
                  </a:lnTo>
                  <a:cubicBezTo>
                    <a:pt x="1113004" y="0"/>
                    <a:pt x="1121059" y="3337"/>
                    <a:pt x="1126999" y="9276"/>
                  </a:cubicBezTo>
                  <a:cubicBezTo>
                    <a:pt x="1132938" y="15215"/>
                    <a:pt x="1136274" y="23270"/>
                    <a:pt x="1136274" y="31669"/>
                  </a:cubicBezTo>
                  <a:lnTo>
                    <a:pt x="1136274" y="794312"/>
                  </a:lnTo>
                  <a:cubicBezTo>
                    <a:pt x="1136274" y="811803"/>
                    <a:pt x="1122095" y="825982"/>
                    <a:pt x="1104605" y="825982"/>
                  </a:cubicBezTo>
                  <a:lnTo>
                    <a:pt x="31669" y="825982"/>
                  </a:lnTo>
                  <a:cubicBezTo>
                    <a:pt x="14179" y="825982"/>
                    <a:pt x="0" y="811803"/>
                    <a:pt x="0" y="794312"/>
                  </a:cubicBezTo>
                  <a:lnTo>
                    <a:pt x="0" y="31669"/>
                  </a:lnTo>
                  <a:cubicBezTo>
                    <a:pt x="0" y="14179"/>
                    <a:pt x="14179" y="0"/>
                    <a:pt x="3166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219" r="0" b="-1219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263600" y="1982401"/>
            <a:ext cx="11381439" cy="2332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b="true" sz="5999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CONCLUSION  </a:t>
            </a:r>
          </a:p>
          <a:p>
            <a:pPr algn="ctr">
              <a:lnSpc>
                <a:spcPts val="3920"/>
              </a:lnSpc>
            </a:pPr>
          </a:p>
          <a:p>
            <a:pPr algn="l">
              <a:lnSpc>
                <a:spcPts val="6440"/>
              </a:lnSpc>
              <a:spcBef>
                <a:spcPct val="0"/>
              </a:spcBef>
            </a:pPr>
            <a:r>
              <a:rPr lang="en-US" b="true" sz="4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A STEP TOWARD SMARTER SUPPORT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604880" y="5041900"/>
            <a:ext cx="9815568" cy="305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39"/>
              </a:lnSpc>
            </a:pP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The SSA Chatbot reimagines how students interact with college services. It's not just faster — it's kinder, clearer, and always available. Th</a:t>
            </a: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is</a:t>
            </a: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</a:t>
            </a: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</a:t>
            </a: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fu</a:t>
            </a: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ture</a:t>
            </a: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of </a:t>
            </a: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tud</a:t>
            </a: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ent-facing AI: real-time, e</a:t>
            </a:r>
            <a:r>
              <a:rPr lang="en-US" sz="25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motionally intelligent, and human-aligned.</a:t>
            </a:r>
          </a:p>
          <a:p>
            <a:pPr algn="just">
              <a:lnSpc>
                <a:spcPts val="3639"/>
              </a:lnSpc>
            </a:pP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“It’s not about replacing humans — it’s about helping students reach them better.”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 09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90600"/>
            <a:ext cx="351253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SS</a:t>
            </a: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 CHATBOT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92131" y="4748593"/>
            <a:ext cx="7495422" cy="5176853"/>
            <a:chOff x="0" y="0"/>
            <a:chExt cx="645054" cy="445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5054" cy="445519"/>
            </a:xfrm>
            <a:custGeom>
              <a:avLst/>
              <a:gdLst/>
              <a:ahLst/>
              <a:cxnLst/>
              <a:rect r="r" b="b" t="t" l="l"/>
              <a:pathLst>
                <a:path h="445519" w="645054">
                  <a:moveTo>
                    <a:pt x="23756" y="0"/>
                  </a:moveTo>
                  <a:lnTo>
                    <a:pt x="621298" y="0"/>
                  </a:lnTo>
                  <a:cubicBezTo>
                    <a:pt x="634418" y="0"/>
                    <a:pt x="645054" y="10636"/>
                    <a:pt x="645054" y="23756"/>
                  </a:cubicBezTo>
                  <a:lnTo>
                    <a:pt x="645054" y="421762"/>
                  </a:lnTo>
                  <a:cubicBezTo>
                    <a:pt x="645054" y="428063"/>
                    <a:pt x="642551" y="434106"/>
                    <a:pt x="638096" y="438561"/>
                  </a:cubicBezTo>
                  <a:cubicBezTo>
                    <a:pt x="633641" y="443016"/>
                    <a:pt x="627599" y="445519"/>
                    <a:pt x="621298" y="445519"/>
                  </a:cubicBezTo>
                  <a:lnTo>
                    <a:pt x="23756" y="445519"/>
                  </a:lnTo>
                  <a:cubicBezTo>
                    <a:pt x="17456" y="445519"/>
                    <a:pt x="11413" y="443016"/>
                    <a:pt x="6958" y="438561"/>
                  </a:cubicBezTo>
                  <a:cubicBezTo>
                    <a:pt x="2503" y="434106"/>
                    <a:pt x="0" y="428063"/>
                    <a:pt x="0" y="421762"/>
                  </a:cubicBezTo>
                  <a:lnTo>
                    <a:pt x="0" y="23756"/>
                  </a:lnTo>
                  <a:cubicBezTo>
                    <a:pt x="0" y="17456"/>
                    <a:pt x="2503" y="11413"/>
                    <a:pt x="6958" y="6958"/>
                  </a:cubicBezTo>
                  <a:cubicBezTo>
                    <a:pt x="11413" y="2503"/>
                    <a:pt x="17456" y="0"/>
                    <a:pt x="2375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2393" r="0" b="-2239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47995" y="2242352"/>
            <a:ext cx="5519794" cy="7171124"/>
            <a:chOff x="0" y="0"/>
            <a:chExt cx="1453773" cy="18886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53773" cy="1888691"/>
            </a:xfrm>
            <a:custGeom>
              <a:avLst/>
              <a:gdLst/>
              <a:ahLst/>
              <a:cxnLst/>
              <a:rect r="r" b="b" t="t" l="l"/>
              <a:pathLst>
                <a:path h="1888691" w="1453773">
                  <a:moveTo>
                    <a:pt x="71531" y="0"/>
                  </a:moveTo>
                  <a:lnTo>
                    <a:pt x="1382242" y="0"/>
                  </a:lnTo>
                  <a:cubicBezTo>
                    <a:pt x="1401213" y="0"/>
                    <a:pt x="1419407" y="7536"/>
                    <a:pt x="1432822" y="20951"/>
                  </a:cubicBezTo>
                  <a:cubicBezTo>
                    <a:pt x="1446237" y="34366"/>
                    <a:pt x="1453773" y="52560"/>
                    <a:pt x="1453773" y="71531"/>
                  </a:cubicBezTo>
                  <a:lnTo>
                    <a:pt x="1453773" y="1817160"/>
                  </a:lnTo>
                  <a:cubicBezTo>
                    <a:pt x="1453773" y="1836131"/>
                    <a:pt x="1446237" y="1854325"/>
                    <a:pt x="1432822" y="1867740"/>
                  </a:cubicBezTo>
                  <a:cubicBezTo>
                    <a:pt x="1419407" y="1881155"/>
                    <a:pt x="1401213" y="1888691"/>
                    <a:pt x="1382242" y="1888691"/>
                  </a:cubicBezTo>
                  <a:lnTo>
                    <a:pt x="71531" y="1888691"/>
                  </a:lnTo>
                  <a:cubicBezTo>
                    <a:pt x="52560" y="1888691"/>
                    <a:pt x="34366" y="1881155"/>
                    <a:pt x="20951" y="1867740"/>
                  </a:cubicBezTo>
                  <a:cubicBezTo>
                    <a:pt x="7536" y="1854325"/>
                    <a:pt x="0" y="1836131"/>
                    <a:pt x="0" y="1817160"/>
                  </a:cubicBezTo>
                  <a:lnTo>
                    <a:pt x="0" y="71531"/>
                  </a:lnTo>
                  <a:cubicBezTo>
                    <a:pt x="0" y="52560"/>
                    <a:pt x="7536" y="34366"/>
                    <a:pt x="20951" y="20951"/>
                  </a:cubicBezTo>
                  <a:cubicBezTo>
                    <a:pt x="34366" y="7536"/>
                    <a:pt x="52560" y="0"/>
                    <a:pt x="71531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453773" cy="1926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12928946" y="6277866"/>
            <a:ext cx="3920981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5866051" y="990600"/>
            <a:ext cx="1393249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PAGE 10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6141" y="1997957"/>
            <a:ext cx="10904843" cy="1934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Red Hat Display Bold"/>
                <a:ea typeface="Red Hat Display Bold"/>
                <a:cs typeface="Red Hat Display Bold"/>
                <a:sym typeface="Red Hat Display Bold"/>
              </a:rPr>
              <a:t>THANK YOU – TRY IT YOURSELF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530153"/>
            <a:ext cx="10222284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Explore the full project, try the live demo, or contribute to future versions.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2383746" y="4123237"/>
            <a:ext cx="5048293" cy="1250711"/>
            <a:chOff x="0" y="0"/>
            <a:chExt cx="6731057" cy="1667615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642301"/>
              <a:ext cx="6731057" cy="10253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79"/>
                </a:lnSpc>
                <a:spcBef>
                  <a:spcPct val="0"/>
                </a:spcBef>
              </a:pPr>
              <a:r>
                <a:rPr lang="en-US" b="true" sz="2199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https://github.com/kittuai/Student-Services-Chatbot-Project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674235" y="-57150"/>
              <a:ext cx="3382587" cy="6227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b="true" sz="2799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GITHUB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2807752" y="7068759"/>
            <a:ext cx="4200280" cy="197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studentsuccess.conestogac.on.ca/academic-guidance](https://studentsuccess.conestogac.on.ca/academic-guidance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587350" y="6558854"/>
            <a:ext cx="2604172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SSA BOOKING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1100" y="1143000"/>
            <a:ext cx="3512536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SS</a:t>
            </a: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A CHATBOT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DAGvQzmj6Pg</dc:identifier>
  <dcterms:modified xsi:type="dcterms:W3CDTF">2011-08-01T06:04:30Z</dcterms:modified>
  <cp:revision>1</cp:revision>
  <dc:title>thynk unlimited</dc:title>
</cp:coreProperties>
</file>